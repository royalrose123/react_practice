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10378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21031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試用期成果報告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523744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VB Form 遷移</a:t>
            </a:r>
            <a:endParaRPr lang="en-US" sz="3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導入與落地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11480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× form-reactor｜讓 AI 產出的 React Page 符合實際專案規範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53542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｜ BSID ｜ Day 0 – Day 75 ｜ 報告日期 【待補：YYYY/MM/DD】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報告大綱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2402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9344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任務背景與目標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9344" y="2450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為什麼需要自動化遷移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2402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58584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與我的切入點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2450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/ form-reactor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36118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09344" y="3456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天時間軸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9344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/ W4 / W6 / W8 四個階段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004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36118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4808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58584" y="3456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關鍵技術挑戰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3822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API、XML / Base64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5720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15568" y="49834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15568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609344" y="4828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量化成果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609344" y="5193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產出比例與遷移產能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57200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4808" y="49834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64808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58584" y="4828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自我檢視與下一步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58584" y="5193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 3–6 個月規劃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｜ 任務背景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到職定位與試用期任務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被賦予的題目、期中與期末的驗收標準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3375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到職與定位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633472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BSID ／ 團隊：【待補：團隊與 mentor】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職務定位：【待補：一句話描述】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3375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744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期中目標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2633472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【待補：期中被設定的目標】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【待補：期中驗收標準】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3375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期末目標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633472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【待補：期末被設定的目標】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【待補：期末驗收標準】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521208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此頁請補上：到職日、所屬團隊、主管設定的期中／期末目標與驗收標準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｜ 任務背景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為什麼要做 Legacy Form 自動遷移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人工改寫的成本，與 AI 產線化的目標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749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現況痛點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VB legacy form 需汰換：【待補：form 總數】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商業邏輯散落在舊程式碼中，缺乏文件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人工改寫一支 form 約需 【待補：人天】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不同人改寫風格不一，維護成本高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agent team 自動完成「分析 → 生成」流程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 React page 可直接進實際專案，而非通用樣板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把人的角色從「改寫」變成「審查與微調」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同一套流程可複用到其他 form 與其他專案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Agent Team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與 form-reactor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本次報告聚焦在流程的產出品質，agent team 內部架構不展開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 Code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 legacy form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程式碼與畫面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52928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3824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45536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解析畫面結構、欄位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與商業邏輯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84064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85232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結構化的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中介描述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6368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26096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07808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依規則生成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546336" y="3017520"/>
            <a:ext cx="182880" cy="18288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47504" y="2194560"/>
            <a:ext cx="197510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57232" y="243230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38944" y="2889504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可進專案的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實際頁面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70064" y="4224528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70064" y="4224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我這次改造的部分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98348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原本 form-reactor 已能產出 React page；我負責的是讓「產出的東西符合我們實際專案的樣子」。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我的切入點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從「能產出」到「能直接用」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 form-reactor agent team 以對齊實際 React 專案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749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可以產出一支能跑的 React page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層為通用寫法，與專案實際介接方式不同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資料格式處理不完整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產出後仍需大量人工調整才能進專案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12080" cy="3200400"/>
          </a:xfrm>
          <a:prstGeom prst="roundRect">
            <a:avLst>
              <a:gd name="adj" fmla="val 142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改造後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層對接專案實際使用的 SOAP API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補上 XML 與 Base64 的編解碼與轉換處理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目錄結構、共用元件、coding style 對齊專案規範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產出即為可審查、可上線的頁面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我的切入點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 agent team：改造前後對照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8 個 agent 流程擴充到 13 個，新增的 5 個負責專案規範對齊與驗證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709160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066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432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個 agent 流程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15568" y="2788920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27889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78892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15568" y="3264408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32644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3264408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26440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15568" y="3739896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15568" y="373989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3739896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373989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15568" y="4215384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5568" y="421538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4215384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00400" y="421538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50992" y="3310128"/>
            <a:ext cx="292608" cy="274320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828800"/>
            <a:ext cx="5303520" cy="3429000"/>
          </a:xfrm>
          <a:prstGeom prst="roundRect">
            <a:avLst>
              <a:gd name="adj" fmla="val 1333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2066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66960" y="2048256"/>
            <a:ext cx="1143000" cy="329184"/>
          </a:xfrm>
          <a:prstGeom prst="roundRect">
            <a:avLst>
              <a:gd name="adj" fmla="val 13889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66960" y="20482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＋5 新增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373368" y="2432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個 agent 流程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73368" y="2788920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73368" y="2788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10144" y="2788920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10144" y="2788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646920" y="2788920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46920" y="2788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73368" y="3264408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73368" y="326440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04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10144" y="3264408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10144" y="326440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46920" y="3264408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46920" y="3264408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73368" y="3739896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73368" y="3739896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07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10144" y="3739896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10144" y="3739896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46920" y="3739896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46920" y="3739896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1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73368" y="4215384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73368" y="421538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010144" y="4215384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10144" y="421538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646920" y="4215384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646920" y="4215384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73368" y="4690872"/>
            <a:ext cx="1490472" cy="384048"/>
          </a:xfrm>
          <a:prstGeom prst="roundRect">
            <a:avLst>
              <a:gd name="adj" fmla="val 9524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73368" y="46908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5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22960" y="548640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新增的 5 個流程：SOAP service 產生、XML 解析／組裝、Base64 處理、專案規範檢查、Playwright 驗證（名稱與職責 【待補：依實際調整】）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｜ 文件結構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四份文件之間的參考關係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其中一份會直接引用 form-analyzer 流程產出的分析文件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53328" y="187452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F0F0EC"/>
          </a:solidFill>
          <a:ln w="12700">
            <a:solidFill>
              <a:srgbClr val="B9B9B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90488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analysis-output.md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90488" y="2340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form-analyzer 流程產出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87768" y="2788920"/>
            <a:ext cx="0" cy="822960"/>
          </a:xfrm>
          <a:prstGeom prst="line">
            <a:avLst/>
          </a:prstGeom>
          <a:noFill/>
          <a:ln w="15875">
            <a:solidFill>
              <a:srgbClr val="B9B9B2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379208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831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01.md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41970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需求與範圍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82112" y="4050792"/>
            <a:ext cx="256032" cy="256032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11296" y="361188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48456" y="3831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02.md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41970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欄位與邏輯整理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70448" y="4050792"/>
            <a:ext cx="256032" cy="256032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361188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6792" y="3831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03.md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1970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元件與 API 對應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58784" y="4050792"/>
            <a:ext cx="256032" cy="256032"/>
          </a:xfrm>
          <a:prstGeom prst="rightArrow">
            <a:avLst/>
          </a:prstGeom>
          <a:solidFill>
            <a:srgbClr val="B4B4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87968" y="3611880"/>
            <a:ext cx="2286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25128" y="3831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04.md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997696" y="41970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遷移紀錄與驗證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749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實線為文件的產出順序，虛線為跨流程的引用；03.md 直接吃 form-analyzer 的分析結果，不重複描述欄位定義。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557784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" y="557784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請把 01–04.md 換成實際檔名與職責，並確認引用的是哪一支 agent 流程產出的文件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時間軸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天工作歷程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以兩週為單位，Day 45 期中、Day 75 期末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401568"/>
            <a:ext cx="10332720" cy="0"/>
          </a:xfrm>
          <a:prstGeom prst="line">
            <a:avLst/>
          </a:prstGeom>
          <a:noFill/>
          <a:ln w="19050">
            <a:solidFill>
              <a:srgbClr val="C4C4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2590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91267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69943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48619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7296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66634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05972" y="3360420"/>
            <a:ext cx="82296" cy="82296"/>
          </a:xfrm>
          <a:prstGeom prst="ellipse">
            <a:avLst/>
          </a:prstGeom>
          <a:solidFill>
            <a:srgbClr val="C4C4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到職 Day 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93076" y="2990088"/>
            <a:ext cx="0" cy="411480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444336" y="169164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63792" y="18562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663792" y="220370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研究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 改造起步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15352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1753" y="3401568"/>
            <a:ext cx="0" cy="896112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323013" y="429768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2469" y="446227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W3–W4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542469" y="480974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產出實際 React page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 tuning 收斂品質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4029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0429" y="2990088"/>
            <a:ext cx="0" cy="411480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201689" y="169164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21145" y="18562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W5–W6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21145" y="220370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Playwright 驗證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跨部門整合、再遷移 2 支 form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72705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9105" y="3401568"/>
            <a:ext cx="0" cy="896112"/>
          </a:xfrm>
          <a:prstGeom prst="line">
            <a:avLst/>
          </a:prstGeom>
          <a:noFill/>
          <a:ln w="12700">
            <a:solidFill>
              <a:srgbClr val="C4C4B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080365" y="4297680"/>
            <a:ext cx="26974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99821" y="446227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W7–W8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299821" y="4809744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PO Listing Order Change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（非遷移類專案）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51381" y="3323844"/>
            <a:ext cx="155448" cy="155448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53003" y="3401568"/>
            <a:ext cx="0" cy="237744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483" y="3639312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21483" y="36393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 期中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978738" y="3401568"/>
            <a:ext cx="0" cy="237744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05695" y="3639312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05695" y="36393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期末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W1–W2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研究與 form-reactor 改造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先看懂分析端產出什麼，再決定生成端要怎麼改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74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215798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 研究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6974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理解對 VB code 的分析範圍與輸出格式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確認可用的欄位、事件與商業邏輯資訊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找出分析結果不足以支撐生成的缺口：【待補：具體缺口】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074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15798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22008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 改造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6974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調整生成規則以貼近專案樣板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重寫 API 層產生邏輯的方向設定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建立可重複驗證的產出流程：【待補：做法】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21208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521208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此頁可補上：研究過程中發現的具體限制、改造了哪些 rule／prompt／template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W3–W4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產出第一支實際 React Page，並持續 tuning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從「能跑」調整到「可直接進專案」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06654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64208" y="2039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048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以改造後的 form-reactor 生成第一支實際 form 的 React page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07238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3044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054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對照專案規範逐項檢查：API、資料轉換、元件與結構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79476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07822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4050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0599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把每一次人工修正的原因回寫成 agent 的規則與範例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800600"/>
            <a:ext cx="10561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5084064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664208" y="5056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收斂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50657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重複迭代，直到人為介入降到 10% 以內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589788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9264" y="589788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此頁可補上：迭代次數、每次迭代的修正重點、第一支 form 的名稱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｜ 關鍵技術挑戰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挑戰一：對接專案實際使用的 SOAP API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產出的頁面必須用專案原本的介接方式，而不是通用 REST 寫法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6060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專案後端為 SOAP 服務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原本產出的 API 呼叫方式不符實際架構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【待補：其他限制】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744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26060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定義專案標準的 SOAP 呼叫樣板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agent 依樣板產生 service 層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【待補：實際做法細節】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6060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產出的頁面可直接對接既有服務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不需再手改 API 層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【待補：可量化的結果】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" y="530352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此頁建議補上：一段實際產出的 service 層程式碼截圖，說服力最強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｜ 關鍵技術挑戰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挑戰二：XML 與 Base64 的轉換處理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回傳的資料要能正確轉成前端可用的型別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轉換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request／response 的 XML 組裝與解析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節點對應到前端 model 的型別轉換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巢狀結構與空值的處理規則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【待補：實際遇到的坑與解法】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轉換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434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附件／影像等二進位資料的編解碼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前端顯示與上傳下載的處理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編碼錯誤與大檔案的例外處理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【待補：實際遇到的坑與解法】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以上兩項處理已內建進 form-reactor 的產生規則，後續遷移的 form 皆可直接沿用。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W3–W4 成果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產出品質收斂結果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3756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人為介入比例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產出後仍需人工調整的部分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33756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AI 產出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頁面主體由 agent team 生成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3756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2286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 form 完成遷移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36941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含首支與 W5–W6 的 2 支（數字待補）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「人只做審查與最後微調」— 這是這次改造最主要想達成的狀態。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W5–W6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 Playwright：讓產出可以被自動驗證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從「產得出來」進一步到「產得對不對，有辦法自動確認」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7492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人工逐頁比對舊 form 與新頁面，成本高且容易漏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每次調整規則後，需要快速確認沒有退步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遷移數量增加後，回歸驗證必須自動化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12080" cy="3108960"/>
          </a:xfrm>
          <a:prstGeom prst="roundRect">
            <a:avLst>
              <a:gd name="adj" fmla="val 1471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怎麼做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Playwright 納入 agent team 的流程中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針對產出的 React page 自動執行操作與檢核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【待補：驗證涵蓋哪些情境、是否納入 CI】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W5–W6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跨部門整合與遷移範圍擴大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讓同一套 agent team 能應付不同的 React 專案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61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24028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64208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跨部門整合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2219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【待補：部門／團隊名稱】 協作，把彼此的做法整併進同一套流程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10561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342900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3401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支援不同 React 專案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34107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agent team 可依不同專案的結構與規範產出對應的頁面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10561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617720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45902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再遷移 2 支 form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5994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【待補：兩支 form 的名稱】，驗證流程的可複用性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57784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這個階段的重點：從「一支 form 做得出來」變成「換一個專案、換一支 form 也做得出來」。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｜ W7–W8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PO Listing Order Change 專案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遷移之外的支援任務，補足團隊人力缺口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65836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214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我負責的部分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【待補：負責的功能或模組】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【待補：實際完成的項目】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【待補：投入時間與交付狀態】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0" y="1874520"/>
            <a:ext cx="3703320" cy="3200400"/>
          </a:xfrm>
          <a:prstGeom prst="roundRect">
            <a:avLst>
              <a:gd name="adj" fmla="val 142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73568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這段經驗的意義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973568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接觸遷移以外的實際業務需求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熟悉團隊既有專案的開發流程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在需要時能即時支援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30352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530352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此頁請補上：PO Listing Order Change 的背景、你負責的範圍與完成狀態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｜ 量化成果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天成果彙整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數字請依實際情況調整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613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40280"/>
                <a:gridCol w="260604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45 期中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75 期末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完成遷移的 form 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首支 ＋ W5–W6 兩支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產出比例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以上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人為介入 &lt; 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單支 form 遷移工時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與人工改寫對比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自動化驗證覆蓋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尚未導入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（待補：覆蓋範圍）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支援的 React 專案數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跨部門整合後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遷移外支援專案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Listing Order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（待補：交付狀態）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80644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" y="580644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整份簡報最重要的一頁：主管最想看到的是數字，請優先把這張補齊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｜ 自我檢視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做得好的、與待加強的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誠實面對這 75 天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074920" cy="3291840"/>
          </a:xfrm>
          <a:prstGeom prst="roundRect">
            <a:avLst>
              <a:gd name="adj" fmla="val 1389"/>
            </a:avLst>
          </a:prstGeom>
          <a:solidFill>
            <a:srgbClr val="EDF1EE"/>
          </a:solidFill>
          <a:ln w="12700">
            <a:solidFill>
              <a:srgbClr val="D4E0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做得好的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沒有停在「能產出」，而是推到「能直接用」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把每次人工修正回寫成規則，讓改善可累積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主動導入 Playwright，讓品質可被驗證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跨部門協作，把成果擴大到其他專案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120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21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待加強的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【待補：例如：對既有系統／業務流程的熟悉度】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【待補：例如：文件與知識傳承】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【待補：例如：跨部門溝通的節奏】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394960"/>
            <a:ext cx="10561320" cy="329184"/>
          </a:xfrm>
          <a:prstGeom prst="roundRect">
            <a:avLst>
              <a:gd name="adj" fmla="val 13889"/>
            </a:avLst>
          </a:prstGeom>
          <a:solidFill>
            <a:srgbClr val="F4F1E8"/>
          </a:solidFill>
          <a:ln w="12700">
            <a:solidFill>
              <a:srgbClr val="E3DC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539496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右欄請用自己的話寫，主管通常最在意這一欄的真誠度與具體改善做法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｜ 下一步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 3–6 個月的規劃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從單點成果到可持續的產線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2139696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個月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【待補：N】 支 form 的遷移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補齊 Playwright 驗證覆蓋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2139696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744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個月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讓其他同仁也能操作這套流程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整理使用文件與規範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874520"/>
            <a:ext cx="33375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9328" y="2139696"/>
            <a:ext cx="310896" cy="31089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79652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個月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29260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擴大到 【待補：其他系統／部門】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把遷移流程納入常態開發流程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103784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3456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歡迎指教與提問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9319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｜ BSID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1037844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2377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可用的示意圖樣式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 14 頁是備用的圖表樣式，內容為示意；正式報告時請刪除本頁之後的內容，或把需要的那幾頁搬到前面。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01 ｜ 分層架構圖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 React Page 的分層結構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表達「上層依賴下層」，適合說明架構或責任分工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2057400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20574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頁面層 Page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0574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路由、頁面組裝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770632"/>
            <a:ext cx="0" cy="10972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880360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28803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元件層 Component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88036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沿用專案既有共用元件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593592"/>
            <a:ext cx="0" cy="10972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703320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37033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服務層 Service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7033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API 呼叫封裝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4416552"/>
            <a:ext cx="0" cy="10972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4526280"/>
            <a:ext cx="6949440" cy="713232"/>
          </a:xfrm>
          <a:prstGeom prst="roundRect">
            <a:avLst>
              <a:gd name="adj" fmla="val 6410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71800" y="45262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轉換層 Adapter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452628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解析、Base64 編解碼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0574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上層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52628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48840" y="2194560"/>
            <a:ext cx="0" cy="292608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5074920"/>
            <a:ext cx="182880" cy="201168"/>
          </a:xfrm>
          <a:prstGeom prst="downArrow">
            <a:avLst/>
          </a:prstGeom>
          <a:solidFill>
            <a:srgbClr val="C9CF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980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依賴方向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層與層之間不畫箭頭也看得懂，靠上下位置本身表達依賴。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02 ｜ 管線圖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VB code 到 React Page 的處理管線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每一段都有明確的輸入與輸出，適合說明自動化流程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377440"/>
            <a:ext cx="1874520" cy="868680"/>
          </a:xfrm>
          <a:prstGeom prst="chevron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24712" y="347472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16152" y="35844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03904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 code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4206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2569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73552" y="2377440"/>
            <a:ext cx="1874520" cy="868680"/>
          </a:xfrm>
          <a:prstGeom prst="chevron">
            <a:avLst/>
          </a:prstGeom>
          <a:solidFill>
            <a:srgbClr val="4E73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73552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55264" y="347472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46704" y="35844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19272" y="3803904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原始檔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346704" y="4206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19272" y="442569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結構化描述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04104" y="2377440"/>
            <a:ext cx="1874520" cy="868680"/>
          </a:xfrm>
          <a:prstGeom prst="chevron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04104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85816" y="347472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77256" y="35844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49824" y="3803904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結構化描述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77256" y="4206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49824" y="442569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34656" y="2377440"/>
            <a:ext cx="1874520" cy="868680"/>
          </a:xfrm>
          <a:prstGeom prst="chevron">
            <a:avLst/>
          </a:prstGeom>
          <a:solidFill>
            <a:srgbClr val="4E73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34656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對齊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16368" y="347472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07808" y="35844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580376" y="3803904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607808" y="4206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580376" y="442569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符合專案規範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65208" y="2377440"/>
            <a:ext cx="1874520" cy="868680"/>
          </a:xfrm>
          <a:prstGeom prst="chevron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65208" y="2377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646920" y="347472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38360" y="35844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710928" y="3803904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符合規範的頁面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738360" y="4206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710928" y="442569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可上線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" y="50749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整條管線由 agent team 自動串接，人只在最後一段介入審查。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用箭頭形狀（chevron）串成一條，比方框加箭頭更有「流動」的感覺。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03 ｜ 泳道流程圖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各角色在流程中的分工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表達「誰在哪一步負責什麼」，跨部門協作最常用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EDF1EE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9659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form-analyzer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61488" y="2075688"/>
            <a:ext cx="0" cy="877824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221992"/>
            <a:ext cx="157276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53512" y="22219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VB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2221992"/>
            <a:ext cx="157276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22219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輸出分析文件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320040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61488" y="3310128"/>
            <a:ext cx="0" cy="877824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456432"/>
            <a:ext cx="157276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6792" y="345643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React page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3456432"/>
            <a:ext cx="157276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28432" y="345643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套用專案規範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443484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F6EDE4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88720" y="44348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我（人工）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61488" y="4544568"/>
            <a:ext cx="0" cy="877824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46920" y="4690872"/>
            <a:ext cx="157276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0072" y="469087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審查與微調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53128" y="2514600"/>
            <a:ext cx="118872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36408" y="3749040"/>
            <a:ext cx="118872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358384" y="2807208"/>
            <a:ext cx="1691640" cy="649224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41664" y="4041648"/>
            <a:ext cx="1691640" cy="649224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960120" y="16093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 →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一條泳道 = 一個角色，方塊左右位置代表時間先後。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04 ｜ 循環圖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產出品質的迭代循環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表達會不斷重複的流程，例如調校、回饋、改善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66360" y="3090672"/>
            <a:ext cx="1828800" cy="113385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3090672"/>
            <a:ext cx="1828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2103120"/>
            <a:ext cx="2103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02352" y="22128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產出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84064" y="248716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生成頁面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3127248"/>
            <a:ext cx="2103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71232" y="323697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檢視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552944" y="351129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對照專案規範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4590288"/>
            <a:ext cx="2103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02352" y="470001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修正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497433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人工調整落差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3127248"/>
            <a:ext cx="21031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33472" y="323697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回寫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615184" y="351129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把原因變成規則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78040" y="2395728"/>
            <a:ext cx="274320" cy="64008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78040" y="4114800"/>
            <a:ext cx="-320040" cy="41148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663440" y="4480560"/>
            <a:ext cx="-548640" cy="-54864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3017520"/>
            <a:ext cx="320040" cy="-50292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循環圖不要超過 5 個節點，箭頭方向要一致（順時針或逆時針）。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05 ｜ 中心輻射圖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對外的介接對象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表達「一個核心連到多個對象」，例如系統整合關係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3657600"/>
            <a:ext cx="-3154680" cy="-105156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3657600"/>
            <a:ext cx="3337560" cy="-105156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3657600"/>
            <a:ext cx="-3794760" cy="82296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657600"/>
            <a:ext cx="3977640" cy="82296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3657600"/>
            <a:ext cx="0" cy="137160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24028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47672" y="22402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 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224028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9912" y="22402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 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34440" y="41148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07592" y="411480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服務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41148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79992" y="411480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另一部門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466344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02352" y="46634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999232"/>
            <a:ext cx="2103120" cy="1316736"/>
          </a:xfrm>
          <a:prstGeom prst="ellipse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2999232"/>
            <a:ext cx="21031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中心放最重要的那個，周邊節點盡量等距，不要讓連線交叉。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06 ｜ 檔案結構圖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產出的檔案放在專案的哪裡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表達目錄結構或文件組織，比條列清楚很多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30936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1965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99616" y="2459736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99616" y="2258568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2313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02536" y="2807208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02536" y="2606040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2660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FormXxx.tsx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99616" y="3154680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9616" y="2953512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37360" y="3008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02536" y="3502152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2536" y="3300984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40280" y="3355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FormXxxFields.tsx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99616" y="3849624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9616" y="3648456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3736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02536" y="4197096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2536" y="3995928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40280" y="4050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formXxxService.ts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99616" y="4544568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9616" y="4343400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37360" y="43982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5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adapters/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02536" y="4892040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2536" y="4690872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40280" y="47457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xmlAdapter.ts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002536" y="5239512"/>
            <a:ext cx="18288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2536" y="5038344"/>
            <a:ext cx="0" cy="201168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40280" y="5093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base64Adapter.ts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0920" y="1783080"/>
            <a:ext cx="4023360" cy="3794760"/>
          </a:xfrm>
          <a:prstGeom prst="roundRect">
            <a:avLst>
              <a:gd name="adj" fmla="val 1205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0" y="2057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25146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產出直接落在專案既有目錄，不另外建資料夾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命名沿用專案慣例，review 時不需重新理解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層是這次新增的部分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檔名用等寬字體（Consolas），資料夾用顏色區分，一眼看得出層級。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07 ｜ 時序圖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一次頁面請求的資料流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表達「誰先呼叫誰、回傳什麼」，講技術細節時很有用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0116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27632" y="20116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606040"/>
            <a:ext cx="0" cy="2514600"/>
          </a:xfrm>
          <a:prstGeom prst="line">
            <a:avLst/>
          </a:prstGeom>
          <a:noFill/>
          <a:ln w="15875">
            <a:solidFill>
              <a:srgbClr val="E2E2D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14800" y="20116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87952" y="20116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0" cy="2514600"/>
          </a:xfrm>
          <a:prstGeom prst="line">
            <a:avLst/>
          </a:prstGeom>
          <a:noFill/>
          <a:ln w="15875">
            <a:solidFill>
              <a:srgbClr val="E2E2D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675120" y="20116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48272" y="20116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2606040"/>
            <a:ext cx="0" cy="2514600"/>
          </a:xfrm>
          <a:prstGeom prst="line">
            <a:avLst/>
          </a:prstGeom>
          <a:noFill/>
          <a:ln w="15875">
            <a:solidFill>
              <a:srgbClr val="E2E2D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235440" y="201168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08592" y="20116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服務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95560" y="2606040"/>
            <a:ext cx="0" cy="2514600"/>
          </a:xfrm>
          <a:prstGeom prst="line">
            <a:avLst/>
          </a:prstGeom>
          <a:noFill/>
          <a:ln w="15875">
            <a:solidFill>
              <a:srgbClr val="E2E2D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514600" y="2971800"/>
            <a:ext cx="2560320" cy="0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606040" y="2679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service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3520440"/>
            <a:ext cx="2560320" cy="0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166360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 XML request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35240" y="4069080"/>
            <a:ext cx="2560320" cy="0"/>
          </a:xfrm>
          <a:prstGeom prst="line">
            <a:avLst/>
          </a:prstGeom>
          <a:noFill/>
          <a:ln w="15875">
            <a:solidFill>
              <a:srgbClr val="3C5A4A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726680" y="3776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 SOAP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95560" y="4617720"/>
            <a:ext cx="-2560320" cy="0"/>
          </a:xfrm>
          <a:prstGeom prst="line">
            <a:avLst/>
          </a:prstGeom>
          <a:noFill/>
          <a:ln w="15875">
            <a:solidFill>
              <a:srgbClr val="B0703A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726680" y="4325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XML / Base64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5074920"/>
            <a:ext cx="-5120640" cy="0"/>
          </a:xfrm>
          <a:prstGeom prst="line">
            <a:avLst/>
          </a:prstGeom>
          <a:noFill/>
          <a:ln w="15875">
            <a:solidFill>
              <a:srgbClr val="B0703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606040" y="47823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轉成前端 model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往右是呼叫、往左是回傳，用兩個顏色分開，不用畫箭頭方向說明。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08 ｜ 決策樹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產出後如何判斷下一步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表達多層判斷，每個分支導向不同處理方式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74920" y="20116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48072" y="20116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產出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651760"/>
            <a:ext cx="0" cy="32004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971800"/>
            <a:ext cx="5029200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971800"/>
            <a:ext cx="0" cy="41148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33832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33472" y="33832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通過規範檢查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95360" y="2971800"/>
            <a:ext cx="0" cy="41148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9520" y="33832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33832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未通過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4023360"/>
            <a:ext cx="0" cy="27432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4297680"/>
            <a:ext cx="1143000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4297680"/>
            <a:ext cx="0" cy="36576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17320" y="46634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90472" y="46634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 Playwright 驗證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4023360"/>
            <a:ext cx="0" cy="27432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297680"/>
            <a:ext cx="-1143000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4297680"/>
            <a:ext cx="0" cy="36576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03320" y="46634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76472" y="46634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直接人工審查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95360" y="4023360"/>
            <a:ext cx="0" cy="27432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4297680"/>
            <a:ext cx="1143000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4297680"/>
            <a:ext cx="0" cy="36576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46520" y="46634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19672" y="46634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回寫規則重跑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95360" y="4023360"/>
            <a:ext cx="0" cy="27432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38360" y="4297680"/>
            <a:ext cx="-1143000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38360" y="4297680"/>
            <a:ext cx="0" cy="36576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32520" y="46634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05672" y="466344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列為已知限制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分支超過兩層就會很寬，通常畫到第二層就夠。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09 ｜ 前後架構對照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改造前後的產出結構差異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把兩個版本並排，讓差異自己跳出來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98348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2606040"/>
            <a:ext cx="4343400" cy="713232"/>
          </a:xfrm>
          <a:prstGeom prst="roundRect">
            <a:avLst>
              <a:gd name="adj" fmla="val 6410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6152" y="2606040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 API 呼叫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3319272"/>
            <a:ext cx="0" cy="20116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3520440"/>
            <a:ext cx="4343400" cy="713232"/>
          </a:xfrm>
          <a:prstGeom prst="roundRect">
            <a:avLst>
              <a:gd name="adj" fmla="val 6410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16152" y="3520440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自行拼裝的元件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10128" y="4233672"/>
            <a:ext cx="0" cy="20116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434840"/>
            <a:ext cx="4343400" cy="713232"/>
          </a:xfrm>
          <a:prstGeom prst="roundRect">
            <a:avLst>
              <a:gd name="adj" fmla="val 6410"/>
            </a:avLst>
          </a:prstGeom>
          <a:solidFill>
            <a:srgbClr val="F0F0EC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16152" y="4434840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缺少資料轉換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4983480" cy="3794760"/>
          </a:xfrm>
          <a:prstGeom prst="roundRect">
            <a:avLst>
              <a:gd name="adj" fmla="val 1205"/>
            </a:avLst>
          </a:prstGeom>
          <a:solidFill>
            <a:srgbClr val="EDF1EE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改造後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675120" y="2606040"/>
            <a:ext cx="43434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48272" y="2606040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專案標準 SOAP service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42248" y="3319272"/>
            <a:ext cx="0" cy="20116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520440"/>
            <a:ext cx="43434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3520440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專案既有共用元件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842248" y="4233672"/>
            <a:ext cx="0" cy="201168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4434840"/>
            <a:ext cx="43434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BD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4434840"/>
            <a:ext cx="4197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/ Base64 adapter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888736" y="3520440"/>
            <a:ext cx="384048" cy="329184"/>
          </a:xfrm>
          <a:prstGeom prst="rightArrow">
            <a:avLst/>
          </a:prstGeom>
          <a:solidFill>
            <a:srgbClr val="C9CF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左右兩塊的項目數要一樣多、位置要對齊，才看得出一對一的改變。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10 ｜ 金字塔圖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自動化程度的三個階段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表達由下往上累積的層級，底層是基礎、頂層是目標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2148840"/>
            <a:ext cx="2743200" cy="914400"/>
          </a:xfrm>
          <a:prstGeom prst="trapezoid">
            <a:avLst/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276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全自動產出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人只做審查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3200400"/>
            <a:ext cx="4754880" cy="914400"/>
          </a:xfrm>
          <a:prstGeom prst="trapezoid">
            <a:avLst/>
          </a:prstGeom>
          <a:solidFill>
            <a:srgbClr val="5C7F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33284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半自動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產出後需人工調整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4251960"/>
            <a:ext cx="6766560" cy="914400"/>
          </a:xfrm>
          <a:prstGeom prst="trapezoid">
            <a:avLst/>
          </a:prstGeom>
          <a:solidFill>
            <a:srgbClr val="F0F0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437997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人工改寫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709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逐支手動重寫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現在的位置 →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金字塔適合講「從哪裡到哪裡」，但不要拿來表達數量大小。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11 ｜ 漏斗圖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從產出到可上線的收斂過程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表達一層一層篩掉的流程，重點在每層剩下多少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2148840"/>
            <a:ext cx="6949440" cy="603504"/>
          </a:xfrm>
          <a:prstGeom prst="roundRect">
            <a:avLst>
              <a:gd name="adj" fmla="val 7576"/>
            </a:avLst>
          </a:prstGeom>
          <a:solidFill>
            <a:srgbClr val="2F5D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214884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初次產出　100%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0478" y="2971800"/>
            <a:ext cx="5420563" cy="603504"/>
          </a:xfrm>
          <a:prstGeom prst="roundRect">
            <a:avLst>
              <a:gd name="adj" fmla="val 7576"/>
            </a:avLst>
          </a:prstGeom>
          <a:solidFill>
            <a:srgbClr val="2F5D50">
              <a:alpha val="8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0478" y="2971800"/>
            <a:ext cx="54205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通過規範檢查　78%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26434" y="3794760"/>
            <a:ext cx="4308653" cy="603504"/>
          </a:xfrm>
          <a:prstGeom prst="roundRect">
            <a:avLst>
              <a:gd name="adj" fmla="val 7576"/>
            </a:avLst>
          </a:prstGeom>
          <a:solidFill>
            <a:srgbClr val="2F5D50">
              <a:alpha val="6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26434" y="3794760"/>
            <a:ext cx="430865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 Playwright 驗證　62%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69664" y="4617720"/>
            <a:ext cx="3822192" cy="603504"/>
          </a:xfrm>
          <a:prstGeom prst="roundRect">
            <a:avLst>
              <a:gd name="adj" fmla="val 7576"/>
            </a:avLst>
          </a:prstGeom>
          <a:solidFill>
            <a:srgbClr val="3C5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9664" y="4617720"/>
            <a:ext cx="3822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人工微調後可上線　全數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層數建議 3–5 層，每層都要有數字，不然漏斗只是裝飾。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12 ｜ 階層樹狀圖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 的組成關係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表達上下隸屬或拆解關係，例如一個流程底下有哪些子流程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6132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10312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3C5A4A"/>
          </a:solidFill>
          <a:ln w="12700">
            <a:solidFill>
              <a:srgbClr val="3C5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10912" y="221284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form-reactor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92624" y="248716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2880360"/>
            <a:ext cx="0" cy="36576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71700" y="3246120"/>
            <a:ext cx="7818120" cy="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1700" y="3246120"/>
            <a:ext cx="0" cy="32004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0" y="3566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0185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結構生成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83564" y="3950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版面與元件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7740" y="3246120"/>
            <a:ext cx="0" cy="32004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34740" y="3566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789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層生成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89604" y="3950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service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83780" y="3246120"/>
            <a:ext cx="0" cy="32004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0780" y="3566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1393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資料轉換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95644" y="3950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/ Base64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989820" y="3246120"/>
            <a:ext cx="0" cy="320040"/>
          </a:xfrm>
          <a:prstGeom prst="line">
            <a:avLst/>
          </a:prstGeom>
          <a:noFill/>
          <a:ln w="15875">
            <a:solidFill>
              <a:srgbClr val="C9CF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46820" y="35661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19972" y="36758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01684" y="39502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71700" y="4343400"/>
            <a:ext cx="0" cy="27432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57300" y="46177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30452" y="46177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共用表格元件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77740" y="4343400"/>
            <a:ext cx="0" cy="27432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63340" y="46177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36492" y="46177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查詢／送出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83780" y="4343400"/>
            <a:ext cx="0" cy="27432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9380" y="46177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42532" y="46177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附件處理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989820" y="4343400"/>
            <a:ext cx="0" cy="274320"/>
          </a:xfrm>
          <a:prstGeom prst="line">
            <a:avLst/>
          </a:prstGeom>
          <a:noFill/>
          <a:ln w="15875">
            <a:solidFill>
              <a:srgbClr val="E2E2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75420" y="461772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0F0EC"/>
          </a:solidFill>
          <a:ln w="12700">
            <a:solidFill>
              <a:srgbClr val="F0F0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8572" y="46177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回歸測試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第三層可以用比較淡的樣式，讓視線先落在前兩層。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13 ｜ 狀態矩陣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 form 在不同面向的完成度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多個項目 × 多個面向的比較，用底色深淺表示程度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版面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資料轉換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9019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505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88920" y="2286000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286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286000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286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286000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2286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23960" y="2286000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23960" y="2286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200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88920" y="303580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88920" y="30358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03580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30358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303580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A9BFB2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30358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大致完成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303580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A9BFB2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23960" y="30358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大致完成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950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788920" y="3785616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2F5D50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3785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785616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A9BFB2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3785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大致完成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785616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A9BFB2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785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大致完成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23960" y="3785616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DCE5D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23960" y="3785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47000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88920" y="4535424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A9BFB2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88920" y="4535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大致完成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4535424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DCE5D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00600" y="4535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4535424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DCE5D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12280" y="4535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23960" y="4535424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F2F2EE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23960" y="4535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未開始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同一個色系由淺到深表示程度，不要用紅黃綠三色（色盲不易分辨）。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示意圖 14 ｜ 指標卡片列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一眼看完的關鍵數字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070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報告開頭或結尾用，把最重要的三到四個數字放大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流程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7307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＋5 vs 改造前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11296" y="2194560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48456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3383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產出比例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7307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人為介入 &lt; 10%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2194560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3383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 form 完成遷移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7307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含跨部門專案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87968" y="2194560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25128" y="2468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025128" y="3383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人天／支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3730752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 18 人天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760720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每張卡只放一個數字，底下一行字說明它跟什麼比。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試用期成果報告</dc:title>
  <dc:subject>PptxGenJS Presentation</dc:subject>
  <dc:creator>Royal</dc:creator>
  <cp:lastModifiedBy>Royal</cp:lastModifiedBy>
  <cp:revision>1</cp:revision>
  <dcterms:created xsi:type="dcterms:W3CDTF">2026-09-08T15:58:54Z</dcterms:created>
  <dcterms:modified xsi:type="dcterms:W3CDTF">2026-09-08T15:58:54Z</dcterms:modified>
</cp:coreProperties>
</file>